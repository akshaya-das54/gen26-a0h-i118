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sis Ideathon" id="{738414BB-E90B-39D7-38DA-935763612684}">
          <p14:sldIdLst>
            <p14:sldId id="256"/>
            <p14:sldId id="257"/>
            <p14:sldId id="258"/>
            <p14:sldId id="259"/>
            <p14:sldId id="260"/>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2" autoAdjust="0"/>
    <p:restoredTop sz="94610"/>
  </p:normalViewPr>
  <p:slideViewPr>
    <p:cSldViewPr snapToGrid="0" snapToObjects="1">
      <p:cViewPr varScale="1">
        <p:scale>
          <a:sx n="95" d="100"/>
          <a:sy n="95" d="100"/>
        </p:scale>
        <p:origin x="13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shaya N" userId="79a61d4e8123ea44" providerId="LiveId" clId="{B04ABE46-688D-4F59-B07A-3B297A74547C}"/>
    <pc:docChg chg="custSel modSld">
      <pc:chgData name="akshaya N" userId="79a61d4e8123ea44" providerId="LiveId" clId="{B04ABE46-688D-4F59-B07A-3B297A74547C}" dt="2026-10-09T16:49:51.350" v="26" actId="33524"/>
      <pc:docMkLst>
        <pc:docMk/>
      </pc:docMkLst>
      <pc:sldChg chg="modSp mod">
        <pc:chgData name="akshaya N" userId="79a61d4e8123ea44" providerId="LiveId" clId="{B04ABE46-688D-4F59-B07A-3B297A74547C}" dt="2026-10-09T16:32:04.546" v="24" actId="20577"/>
        <pc:sldMkLst>
          <pc:docMk/>
          <pc:sldMk cId="0" sldId="256"/>
        </pc:sldMkLst>
        <pc:spChg chg="mod">
          <ac:chgData name="akshaya N" userId="79a61d4e8123ea44" providerId="LiveId" clId="{B04ABE46-688D-4F59-B07A-3B297A74547C}" dt="2026-10-09T16:32:04.546" v="24" actId="20577"/>
          <ac:spMkLst>
            <pc:docMk/>
            <pc:sldMk cId="0" sldId="256"/>
            <ac:spMk id="11" creationId="{00000000-0000-0000-0000-000000000000}"/>
          </ac:spMkLst>
        </pc:spChg>
      </pc:sldChg>
      <pc:sldChg chg="modSp mod">
        <pc:chgData name="akshaya N" userId="79a61d4e8123ea44" providerId="LiveId" clId="{B04ABE46-688D-4F59-B07A-3B297A74547C}" dt="2026-10-09T16:49:51.350" v="26" actId="33524"/>
        <pc:sldMkLst>
          <pc:docMk/>
          <pc:sldMk cId="0" sldId="258"/>
        </pc:sldMkLst>
        <pc:spChg chg="mod">
          <ac:chgData name="akshaya N" userId="79a61d4e8123ea44" providerId="LiveId" clId="{B04ABE46-688D-4F59-B07A-3B297A74547C}" dt="2026-10-09T16:49:51.350" v="26" actId="33524"/>
          <ac:spMkLst>
            <pc:docMk/>
            <pc:sldMk cId="0" sldId="258"/>
            <ac:spMk id="1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17384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SIS COVER">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NESIS 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10911535" y="320040"/>
            <a:ext cx="822960" cy="822960"/>
          </a:xfrm>
          <a:prstGeom prst="roundRect">
            <a:avLst>
              <a:gd name="adj" fmla="val 13333"/>
            </a:avLst>
          </a:prstGeom>
          <a:solidFill>
            <a:schemeClr val="bg1"/>
          </a:solidFill>
          <a:ln w="9525">
            <a:solidFill>
              <a:schemeClr val="accent6"/>
            </a:solidFill>
          </a:ln>
        </p:spPr>
        <p:txBody>
          <a:bodyPr wrap="square" rtlCol="0" anchor="ctr"/>
          <a:lstStyle/>
          <a:p>
            <a:pPr marL="0" indent="0">
              <a:buNone/>
            </a:pPr>
            <a:endParaRPr lang="en-US" dirty="0"/>
          </a:p>
        </p:txBody>
      </p:sp>
      <p:pic>
        <p:nvPicPr>
          <p:cNvPr id="3" name="Image 0" descr="Genesis logo"/>
          <p:cNvPicPr>
            <a:picLocks noChangeAspect="1"/>
          </p:cNvPicPr>
          <p:nvPr/>
        </p:nvPicPr>
        <p:blipFill>
          <a:blip r:embed="rId2"/>
          <a:stretch>
            <a:fillRect/>
          </a:stretch>
        </p:blipFill>
        <p:spPr>
          <a:xfrm>
            <a:off x="11055950" y="384048"/>
            <a:ext cx="534131" cy="694944"/>
          </a:xfrm>
          <a:prstGeom prst="rect">
            <a:avLst/>
          </a:prstGeom>
        </p:spPr>
      </p:pic>
      <p:sp>
        <p:nvSpPr>
          <p:cNvPr id="4" name="Shape 1"/>
          <p:cNvSpPr/>
          <p:nvPr/>
        </p:nvSpPr>
        <p:spPr>
          <a:xfrm>
            <a:off x="0" y="6355080"/>
            <a:ext cx="12191695" cy="502920"/>
          </a:xfrm>
          <a:prstGeom prst="rect">
            <a:avLst/>
          </a:prstGeom>
          <a:solidFill>
            <a:schemeClr val="tx2"/>
          </a:solidFill>
          <a:ln/>
        </p:spPr>
      </p:sp>
      <p:sp>
        <p:nvSpPr>
          <p:cNvPr id="5" name="Text 2"/>
          <p:cNvSpPr/>
          <p:nvPr/>
        </p:nvSpPr>
        <p:spPr>
          <a:xfrm>
            <a:off x="2286000" y="6355080"/>
            <a:ext cx="7619695" cy="502920"/>
          </a:xfrm>
          <a:prstGeom prst="rect">
            <a:avLst/>
          </a:prstGeom>
          <a:noFill/>
          <a:ln/>
        </p:spPr>
        <p:txBody>
          <a:bodyPr wrap="square" lIns="0" tIns="0" rIns="0" bIns="0" rtlCol="0" anchor="ctr"/>
          <a:lstStyle/>
          <a:p>
            <a:pPr marL="0" indent="0" algn="ctr">
              <a:buNone/>
            </a:pPr>
            <a:r>
              <a:rPr lang="en-US" sz="1050" kern="0" spc="100" dirty="0">
                <a:solidFill>
                  <a:schemeClr val="accent6"/>
                </a:solidFill>
              </a:rPr>
              <a:t>Genesis Ideathon – Pre-Ideathon Template</a:t>
            </a:r>
            <a:endParaRPr lang="en-US" sz="1050" dirty="0"/>
          </a:p>
        </p:txBody>
      </p:sp>
      <p:sp>
        <p:nvSpPr>
          <p:cNvPr id="6" name="Text 3"/>
          <p:cNvSpPr/>
          <p:nvPr/>
        </p:nvSpPr>
        <p:spPr>
          <a:xfrm>
            <a:off x="11259007" y="6409944"/>
            <a:ext cx="457200" cy="395935"/>
          </a:xfrm>
          <a:prstGeom prst="hexagon">
            <a:avLst/>
          </a:prstGeom>
          <a:solidFill>
            <a:schemeClr val="accent3"/>
          </a:solidFill>
          <a:ln/>
        </p:spPr>
        <p:txBody>
          <a:bodyPr wrap="square" rtlCol="0" anchor="ctr"/>
          <a:lstStyle/>
          <a:p>
            <a:pPr marL="0" indent="0">
              <a:buNone/>
            </a:pPr>
            <a:endParaRPr lang="en-US" dirty="0"/>
          </a:p>
        </p:txBody>
      </p:sp>
      <p:sp>
        <p:nvSpPr>
          <p:cNvPr id="7" name="Text 4"/>
          <p:cNvSpPr/>
          <p:nvPr/>
        </p:nvSpPr>
        <p:spPr>
          <a:xfrm rot="5400000">
            <a:off x="10610311" y="4686300"/>
            <a:ext cx="1425408" cy="1234440"/>
          </a:xfrm>
          <a:prstGeom prst="hexagon">
            <a:avLst/>
          </a:prstGeom>
          <a:ln w="15875">
            <a:solidFill>
              <a:schemeClr val="accent4">
                <a:alpha val="28000"/>
              </a:schemeClr>
            </a:solidFill>
          </a:ln>
        </p:spPr>
        <p:txBody>
          <a:bodyPr wrap="square" rtlCol="0" anchor="ctr"/>
          <a:lstStyle/>
          <a:p>
            <a:pPr marL="0" indent="0">
              <a:buNone/>
            </a:pPr>
            <a:endParaRPr lang="en-US" dirty="0"/>
          </a:p>
        </p:txBody>
      </p:sp>
      <p:sp>
        <p:nvSpPr>
          <p:cNvPr id="8" name="Text 5"/>
          <p:cNvSpPr/>
          <p:nvPr/>
        </p:nvSpPr>
        <p:spPr>
          <a:xfrm rot="5400000">
            <a:off x="9750599" y="5349240"/>
            <a:ext cx="950272" cy="822960"/>
          </a:xfrm>
          <a:prstGeom prst="hexagon">
            <a:avLst/>
          </a:prstGeom>
          <a:ln w="15875">
            <a:solidFill>
              <a:schemeClr val="accent4">
                <a:alpha val="20000"/>
              </a:schemeClr>
            </a:solidFill>
          </a:ln>
        </p:spPr>
        <p:txBody>
          <a:bodyPr wrap="square" rtlCol="0" anchor="ctr"/>
          <a:lstStyle/>
          <a:p>
            <a:pPr marL="0" indent="0">
              <a:buNone/>
            </a:pPr>
            <a:endParaRPr lang="en-US" dirty="0"/>
          </a:p>
        </p:txBody>
      </p:sp>
      <p:sp>
        <p:nvSpPr>
          <p:cNvPr id="9" name="Text 6"/>
          <p:cNvSpPr/>
          <p:nvPr/>
        </p:nvSpPr>
        <p:spPr>
          <a:xfrm rot="5400000">
            <a:off x="11579399" y="3840480"/>
            <a:ext cx="950272" cy="822960"/>
          </a:xfrm>
          <a:prstGeom prst="hexagon">
            <a:avLst/>
          </a:prstGeom>
          <a:ln w="15875">
            <a:solidFill>
              <a:schemeClr val="accent4">
                <a:alpha val="18000"/>
              </a:schemeClr>
            </a:solidFill>
          </a:ln>
        </p:spPr>
        <p:txBody>
          <a:bodyPr wrap="square" rtlCol="0" anchor="ctr"/>
          <a:lstStyle/>
          <a:p>
            <a:pPr marL="0" indent="0">
              <a:buNone/>
            </a:pPr>
            <a:endParaRPr lang="en-US" dirty="0"/>
          </a:p>
        </p:txBody>
      </p:sp>
      <p:sp>
        <p:nvSpPr>
          <p:cNvPr id="10" name="Text 7"/>
          <p:cNvSpPr>
            <a:spLocks noGrp="1"/>
          </p:cNvSpPr>
          <p:nvPr>
            <p:ph type="title" idx="108" hasCustomPrompt="1"/>
          </p:nvPr>
        </p:nvSpPr>
        <p:spPr>
          <a:xfrm>
            <a:off x="3246120" y="320040"/>
            <a:ext cx="7498080" cy="822960"/>
          </a:xfrm>
          <a:prstGeom prst="rect">
            <a:avLst/>
          </a:prstGeom>
          <a:noFill/>
          <a:ln/>
        </p:spPr>
        <p:txBody>
          <a:bodyPr wrap="square" rtlCol="0"/>
          <a:lstStyle>
            <a:lvl1pPr marL="0" indent="0" algn="ctr">
              <a:buNone/>
              <a:defRPr lang="en-US" sz="2400" b="1" kern="0" spc="100" dirty="0">
                <a:solidFill>
                  <a:schemeClr val="tx2"/>
                </a:solidFill>
                <a:latin typeface="Cambria" pitchFamily="34" charset="0"/>
                <a:ea typeface="Cambria" pitchFamily="34" charset="-122"/>
                <a:cs typeface="Cambria" pitchFamily="34" charset="-120"/>
              </a:defRPr>
            </a:lvl1pP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SLIDE TITLE</a:t>
            </a:r>
            <a:endParaRPr lang="en-US" sz="24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 Hexagon"/>
          <p:cNvSpPr/>
          <p:nvPr/>
        </p:nvSpPr>
        <p:spPr>
          <a:xfrm rot="5400000">
            <a:off x="8841585" y="-1222527"/>
            <a:ext cx="3695502" cy="3200400"/>
          </a:xfrm>
          <a:prstGeom prst="hexagon">
            <a:avLst/>
          </a:prstGeom>
          <a:ln w="15875">
            <a:solidFill>
              <a:schemeClr val="accent4">
                <a:alpha val="50000"/>
              </a:schemeClr>
            </a:solidFill>
            <a:prstDash val="solid"/>
          </a:ln>
        </p:spPr>
      </p:sp>
      <p:sp>
        <p:nvSpPr>
          <p:cNvPr id="3" name="Cover Hexagon"/>
          <p:cNvSpPr/>
          <p:nvPr/>
        </p:nvSpPr>
        <p:spPr>
          <a:xfrm rot="5400000">
            <a:off x="10524081" y="1691640"/>
            <a:ext cx="3695502" cy="3200400"/>
          </a:xfrm>
          <a:prstGeom prst="hexagon">
            <a:avLst/>
          </a:prstGeom>
          <a:solidFill>
            <a:schemeClr val="accent1">
              <a:alpha val="25000"/>
            </a:schemeClr>
          </a:solidFill>
          <a:ln w="15875">
            <a:solidFill>
              <a:schemeClr val="accent4">
                <a:alpha val="45000"/>
              </a:schemeClr>
            </a:solidFill>
            <a:prstDash val="solid"/>
          </a:ln>
        </p:spPr>
      </p:sp>
      <p:sp>
        <p:nvSpPr>
          <p:cNvPr id="4" name="Cover Hexagon"/>
          <p:cNvSpPr/>
          <p:nvPr/>
        </p:nvSpPr>
        <p:spPr>
          <a:xfrm rot="5400000">
            <a:off x="8841585" y="4605807"/>
            <a:ext cx="3695502" cy="3200400"/>
          </a:xfrm>
          <a:prstGeom prst="hexagon">
            <a:avLst/>
          </a:prstGeom>
          <a:ln w="15875">
            <a:solidFill>
              <a:schemeClr val="accent4">
                <a:alpha val="50000"/>
              </a:schemeClr>
            </a:solidFill>
            <a:prstDash val="solid"/>
          </a:ln>
        </p:spPr>
      </p:sp>
      <p:sp>
        <p:nvSpPr>
          <p:cNvPr id="5" name="Cover Hexagon"/>
          <p:cNvSpPr/>
          <p:nvPr/>
        </p:nvSpPr>
        <p:spPr>
          <a:xfrm rot="5400000">
            <a:off x="6613359" y="3177540"/>
            <a:ext cx="580722" cy="502920"/>
          </a:xfrm>
          <a:prstGeom prst="hexagon">
            <a:avLst/>
          </a:prstGeom>
          <a:solidFill>
            <a:schemeClr val="accent3"/>
          </a:solidFill>
          <a:ln/>
        </p:spPr>
      </p:sp>
      <p:sp>
        <p:nvSpPr>
          <p:cNvPr id="6" name="Cover Hexagon"/>
          <p:cNvSpPr/>
          <p:nvPr/>
        </p:nvSpPr>
        <p:spPr>
          <a:xfrm rot="5400000">
            <a:off x="10849583" y="1728216"/>
            <a:ext cx="337874" cy="292608"/>
          </a:xfrm>
          <a:prstGeom prst="hexagon">
            <a:avLst/>
          </a:prstGeom>
          <a:solidFill>
            <a:schemeClr val="accent3">
              <a:alpha val="70000"/>
            </a:schemeClr>
          </a:solidFill>
          <a:ln/>
        </p:spPr>
      </p:sp>
      <p:sp>
        <p:nvSpPr>
          <p:cNvPr id="7" name="Cover Hexagon"/>
          <p:cNvSpPr/>
          <p:nvPr/>
        </p:nvSpPr>
        <p:spPr>
          <a:xfrm rot="5400000">
            <a:off x="6868728" y="1440180"/>
            <a:ext cx="4276224" cy="3703320"/>
          </a:xfrm>
          <a:prstGeom prst="hexagon">
            <a:avLst/>
          </a:prstGeom>
          <a:solidFill>
            <a:schemeClr val="accent1">
              <a:alpha val="45000"/>
            </a:schemeClr>
          </a:solidFill>
          <a:ln/>
        </p:spPr>
      </p:sp>
      <p:sp>
        <p:nvSpPr>
          <p:cNvPr id="8" name="Cover Hexagon"/>
          <p:cNvSpPr/>
          <p:nvPr/>
        </p:nvSpPr>
        <p:spPr>
          <a:xfrm rot="5400000">
            <a:off x="6755697" y="4800600"/>
            <a:ext cx="844686" cy="731520"/>
          </a:xfrm>
          <a:prstGeom prst="hexagon">
            <a:avLst/>
          </a:prstGeom>
          <a:ln w="19050">
            <a:solidFill>
              <a:schemeClr val="accent3">
                <a:alpha val="65000"/>
              </a:schemeClr>
            </a:solidFill>
            <a:prstDash val="solid"/>
          </a:ln>
        </p:spPr>
      </p:sp>
      <p:sp>
        <p:nvSpPr>
          <p:cNvPr id="9" name="Cover Hexagon"/>
          <p:cNvSpPr/>
          <p:nvPr/>
        </p:nvSpPr>
        <p:spPr>
          <a:xfrm rot="5400000">
            <a:off x="7159089" y="1691640"/>
            <a:ext cx="3695502" cy="3200400"/>
          </a:xfrm>
          <a:prstGeom prst="hexagon">
            <a:avLst/>
          </a:prstGeom>
          <a:solidFill>
            <a:schemeClr val="bg1"/>
          </a:solidFill>
          <a:ln w="38100">
            <a:solidFill>
              <a:schemeClr val="accent3"/>
            </a:solidFill>
            <a:prstDash val="solid"/>
          </a:ln>
        </p:spPr>
      </p:sp>
      <p:pic>
        <p:nvPicPr>
          <p:cNvPr id="10" name="Genesis Logo" descr="Genesis logo"/>
          <p:cNvPicPr>
            <a:picLocks noChangeAspect="1"/>
          </p:cNvPicPr>
          <p:nvPr/>
        </p:nvPicPr>
        <p:blipFill>
          <a:blip r:embed="rId3"/>
          <a:stretch>
            <a:fillRect/>
          </a:stretch>
        </p:blipFill>
        <p:spPr>
          <a:xfrm>
            <a:off x="8110766" y="2125980"/>
            <a:ext cx="1792148" cy="2331720"/>
          </a:xfrm>
          <a:prstGeom prst="rect">
            <a:avLst/>
          </a:prstGeom>
        </p:spPr>
      </p:pic>
      <p:sp>
        <p:nvSpPr>
          <p:cNvPr id="11" name="Kicker"/>
          <p:cNvSpPr txBox="1"/>
          <p:nvPr/>
        </p:nvSpPr>
        <p:spPr>
          <a:xfrm>
            <a:off x="548640" y="502920"/>
            <a:ext cx="5303520" cy="320040"/>
          </a:xfrm>
          <a:prstGeom prst="rect">
            <a:avLst/>
          </a:prstGeom>
          <a:noFill/>
          <a:ln/>
        </p:spPr>
        <p:txBody>
          <a:bodyPr wrap="square" lIns="0" tIns="0" rIns="0" bIns="0" rtlCol="0" anchor="ctr"/>
          <a:lstStyle/>
          <a:p>
            <a:pPr marL="0" indent="0">
              <a:buNone/>
            </a:pPr>
            <a:endParaRPr lang="en-US" sz="1200" dirty="0"/>
          </a:p>
        </p:txBody>
      </p:sp>
      <p:sp>
        <p:nvSpPr>
          <p:cNvPr id="12" name="Event Title"/>
          <p:cNvSpPr txBox="1"/>
          <p:nvPr/>
        </p:nvSpPr>
        <p:spPr>
          <a:xfrm>
            <a:off x="426720" y="886968"/>
            <a:ext cx="5669280" cy="1600200"/>
          </a:xfrm>
          <a:prstGeom prst="rect">
            <a:avLst/>
          </a:prstGeom>
          <a:noFill/>
          <a:ln/>
        </p:spPr>
        <p:txBody>
          <a:bodyPr wrap="square" lIns="0" tIns="0" rIns="0" bIns="0" rtlCol="0" anchor="t"/>
          <a:lstStyle/>
          <a:p>
            <a:pPr marL="0" indent="0">
              <a:lnSpc>
                <a:spcPct val="90000"/>
              </a:lnSpc>
              <a:buNone/>
            </a:pPr>
            <a:r>
              <a:rPr lang="en-US" sz="5400" b="1" kern="0" spc="200" dirty="0">
                <a:solidFill>
                  <a:schemeClr val="bg1"/>
                </a:solidFill>
                <a:latin typeface="Cambria" pitchFamily="34" charset="0"/>
                <a:ea typeface="Cambria" pitchFamily="34" charset="-122"/>
                <a:cs typeface="Cambria" pitchFamily="34" charset="-120"/>
              </a:rPr>
              <a:t>GENESIS</a:t>
            </a:r>
            <a:endParaRPr lang="en-US" sz="5400" dirty="0"/>
          </a:p>
          <a:p>
            <a:pPr marL="0" indent="0">
              <a:lnSpc>
                <a:spcPct val="90000"/>
              </a:lnSpc>
              <a:buNone/>
            </a:pPr>
            <a:r>
              <a:rPr lang="en-US" sz="5400" b="1" kern="0" spc="200" dirty="0">
                <a:solidFill>
                  <a:schemeClr val="accent3"/>
                </a:solidFill>
                <a:latin typeface="Cambria" pitchFamily="34" charset="0"/>
                <a:ea typeface="Cambria" pitchFamily="34" charset="-122"/>
                <a:cs typeface="Cambria" pitchFamily="34" charset="-120"/>
              </a:rPr>
              <a:t>IDEATHON</a:t>
            </a:r>
            <a:endParaRPr lang="en-US" sz="5400" dirty="0"/>
          </a:p>
        </p:txBody>
      </p:sp>
      <p:sp>
        <p:nvSpPr>
          <p:cNvPr id="13" name="Section Chip"/>
          <p:cNvSpPr/>
          <p:nvPr/>
        </p:nvSpPr>
        <p:spPr>
          <a:xfrm>
            <a:off x="548640" y="2606040"/>
            <a:ext cx="2103120" cy="384048"/>
          </a:xfrm>
          <a:prstGeom prst="roundRect">
            <a:avLst>
              <a:gd name="adj" fmla="val 50000"/>
            </a:avLst>
          </a:prstGeom>
          <a:ln w="15875">
            <a:solidFill>
              <a:schemeClr val="accent3"/>
            </a:solidFill>
          </a:ln>
        </p:spPr>
        <p:txBody>
          <a:bodyPr wrap="square" lIns="0" tIns="0" rIns="0" bIns="0" rtlCol="0" anchor="ctr"/>
          <a:lstStyle/>
          <a:p>
            <a:pPr marL="0" indent="0" algn="ctr">
              <a:buNone/>
            </a:pPr>
            <a:r>
              <a:rPr lang="en-US" sz="1300" b="1" kern="0" spc="300" dirty="0">
                <a:solidFill>
                  <a:schemeClr val="bg1"/>
                </a:solidFill>
              </a:rPr>
              <a:t>TEAM &amp; DOMAIN</a:t>
            </a:r>
            <a:endParaRPr lang="en-US" sz="1300" dirty="0"/>
          </a:p>
        </p:txBody>
      </p:sp>
      <p:sp>
        <p:nvSpPr>
          <p:cNvPr id="14" name="Cover Lead"/>
          <p:cNvSpPr txBox="1"/>
          <p:nvPr/>
        </p:nvSpPr>
        <p:spPr>
          <a:xfrm>
            <a:off x="548640" y="3108960"/>
            <a:ext cx="5669280" cy="365760"/>
          </a:xfrm>
          <a:prstGeom prst="rect">
            <a:avLst/>
          </a:prstGeom>
          <a:noFill/>
          <a:ln/>
        </p:spPr>
        <p:txBody>
          <a:bodyPr wrap="square" lIns="0" tIns="0" rIns="0" bIns="0" rtlCol="0" anchor="ctr"/>
          <a:lstStyle/>
          <a:p>
            <a:pPr marL="0" indent="0">
              <a:buNone/>
            </a:pPr>
            <a:r>
              <a:rPr lang="en-US" sz="1600" i="1" dirty="0">
                <a:solidFill>
                  <a:schemeClr val="accent6"/>
                </a:solidFill>
              </a:rPr>
              <a:t>Introduce your team and the domain you have chosen</a:t>
            </a:r>
            <a:endParaRPr lang="en-US" sz="1600" dirty="0"/>
          </a:p>
        </p:txBody>
      </p:sp>
      <p:sp>
        <p:nvSpPr>
          <p:cNvPr id="16" name="Cover Fields">
            <a:extLst>
              <a:ext uri="{FF2B5EF4-FFF2-40B4-BE49-F238E27FC236}">
                <a16:creationId xmlns:a16="http://schemas.microsoft.com/office/drawing/2014/main" id="{AB65B6C4-D06A-01F6-BEAB-3DBD43F1EF4D}"/>
              </a:ext>
            </a:extLst>
          </p:cNvPr>
          <p:cNvSpPr txBox="1"/>
          <p:nvPr/>
        </p:nvSpPr>
        <p:spPr>
          <a:xfrm>
            <a:off x="612629" y="3618302"/>
            <a:ext cx="6441948" cy="3464019"/>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79400" indent="-279400">
              <a:spcAft>
                <a:spcPts val="1400"/>
              </a:spcAft>
              <a:buClr>
                <a:schemeClr val="accent3"/>
              </a:buClr>
              <a:buSzPct val="100000"/>
              <a:buChar char="•"/>
            </a:pPr>
            <a:r>
              <a:rPr lang="en-US" sz="1800" dirty="0">
                <a:solidFill>
                  <a:schemeClr val="bg1"/>
                </a:solidFill>
              </a:rPr>
              <a:t>Team Name – Nexus</a:t>
            </a:r>
            <a:endParaRPr lang="en-US" sz="1800" dirty="0"/>
          </a:p>
          <a:p>
            <a:pPr marL="279400" indent="-279400">
              <a:spcAft>
                <a:spcPts val="1400"/>
              </a:spcAft>
              <a:buClr>
                <a:schemeClr val="accent3"/>
              </a:buClr>
              <a:buSzPct val="100000"/>
              <a:buFontTx/>
              <a:buChar char="•"/>
            </a:pPr>
            <a:r>
              <a:rPr lang="en-US" sz="1800" dirty="0">
                <a:solidFill>
                  <a:schemeClr val="bg1"/>
                </a:solidFill>
              </a:rPr>
              <a:t>Team Members – Akshaya N - CB</a:t>
            </a:r>
            <a:r>
              <a:rPr lang="en-US" dirty="0">
                <a:solidFill>
                  <a:schemeClr val="bg1"/>
                </a:solidFill>
              </a:rPr>
              <a:t>.PS.I5DAS26154</a:t>
            </a:r>
          </a:p>
          <a:p>
            <a:pPr>
              <a:spcAft>
                <a:spcPts val="1400"/>
              </a:spcAft>
              <a:buClr>
                <a:schemeClr val="accent3"/>
              </a:buClr>
              <a:buSzPct val="100000"/>
            </a:pPr>
            <a:r>
              <a:rPr lang="en-US" dirty="0">
                <a:solidFill>
                  <a:schemeClr val="bg1"/>
                </a:solidFill>
              </a:rPr>
              <a:t>                                     K Lipika Sri  – CB.PS.I5DAS26118 </a:t>
            </a:r>
          </a:p>
          <a:p>
            <a:pPr>
              <a:spcAft>
                <a:spcPts val="1400"/>
              </a:spcAft>
              <a:buClr>
                <a:schemeClr val="accent3"/>
              </a:buClr>
              <a:buSzPct val="100000"/>
            </a:pPr>
            <a:r>
              <a:rPr lang="en-US" dirty="0">
                <a:solidFill>
                  <a:schemeClr val="bg1"/>
                </a:solidFill>
              </a:rPr>
              <a:t>                                     Sasmitha T – CB.PS.I5DAS26134</a:t>
            </a:r>
          </a:p>
          <a:p>
            <a:pPr>
              <a:spcAft>
                <a:spcPts val="1400"/>
              </a:spcAft>
              <a:buClr>
                <a:schemeClr val="accent3"/>
              </a:buClr>
              <a:buSzPct val="100000"/>
            </a:pPr>
            <a:r>
              <a:rPr lang="en-US" dirty="0">
                <a:solidFill>
                  <a:schemeClr val="bg1"/>
                </a:solidFill>
              </a:rPr>
              <a:t>                                     Iniyaa Sri Suresh – CB.PS.I5DAS26115</a:t>
            </a:r>
          </a:p>
          <a:p>
            <a:pPr marL="279400" indent="-279400">
              <a:spcAft>
                <a:spcPts val="1400"/>
              </a:spcAft>
              <a:buClr>
                <a:schemeClr val="accent3"/>
              </a:buClr>
              <a:buSzPct val="100000"/>
              <a:buChar char="•"/>
            </a:pPr>
            <a:r>
              <a:rPr lang="en-US" sz="1800" dirty="0">
                <a:solidFill>
                  <a:schemeClr val="bg1"/>
                </a:solidFill>
              </a:rPr>
              <a:t>Selected Domain – 5 ( Agriculture)</a:t>
            </a:r>
            <a:endParaRPr lang="en-US" sz="1800" dirty="0"/>
          </a:p>
          <a:p>
            <a:pPr marL="279400" indent="-279400">
              <a:spcAft>
                <a:spcPts val="1400"/>
              </a:spcAft>
              <a:buClr>
                <a:schemeClr val="accent3"/>
              </a:buClr>
              <a:buSzPct val="100000"/>
              <a:buChar char="•"/>
            </a:pPr>
            <a:r>
              <a:rPr lang="en-US" sz="1800" dirty="0">
                <a:solidFill>
                  <a:schemeClr val="bg1"/>
                </a:solidFill>
              </a:rPr>
              <a:t>Problem Statement – Banana Smart Farming </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DOMAIN PROBLEM IN OUR WORDS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NEXUS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2</a:t>
            </a:fld>
            <a:endParaRPr lang="en-US"/>
          </a:p>
        </p:txBody>
      </p:sp>
      <p:sp>
        <p:nvSpPr>
          <p:cNvPr id="11" name="TextBox 10">
            <a:extLst>
              <a:ext uri="{FF2B5EF4-FFF2-40B4-BE49-F238E27FC236}">
                <a16:creationId xmlns:a16="http://schemas.microsoft.com/office/drawing/2014/main" id="{294B353A-6FE6-4A21-4EE5-FE3C33EB73C3}"/>
              </a:ext>
            </a:extLst>
          </p:cNvPr>
          <p:cNvSpPr txBox="1"/>
          <p:nvPr/>
        </p:nvSpPr>
        <p:spPr>
          <a:xfrm>
            <a:off x="2050983" y="1443841"/>
            <a:ext cx="8090034" cy="3970318"/>
          </a:xfrm>
          <a:prstGeom prst="rect">
            <a:avLst/>
          </a:prstGeom>
          <a:noFill/>
        </p:spPr>
        <p:txBody>
          <a:bodyPr wrap="square" rtlCol="0">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buFont typeface="Wingdings" panose="05000000000000000000" pitchFamily="2" charset="2"/>
              <a:buChar char="§"/>
            </a:pPr>
            <a:r>
              <a:rPr lang="en-US" sz="2800" dirty="0"/>
              <a:t>Banana farmers struggle to know when to irrigate , identify weather calamities and pest attack and to detect diseases in the early stage . This leads to water wastage, poor crop growth, and low yield.</a:t>
            </a:r>
          </a:p>
          <a:p>
            <a:endParaRPr lang="en-US" sz="2800" dirty="0"/>
          </a:p>
          <a:p>
            <a:pPr marL="342900" indent="-342900">
              <a:buFont typeface="Wingdings" panose="05000000000000000000" pitchFamily="2" charset="2"/>
              <a:buChar char="§"/>
            </a:pPr>
            <a:r>
              <a:rPr lang="en-US" sz="2800" dirty="0"/>
              <a:t> Due to water scarcity and increasing diseases, farmers face heavy losses. They need a simple, smart solution to monitor their crop and improve yield and profit.</a:t>
            </a: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WHO IS AFFECTED?</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NEXUS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Target users, stakeholders, beneficiaries</a:t>
            </a:r>
            <a:endParaRPr lang="en-US" sz="1800" dirty="0"/>
          </a:p>
        </p:txBody>
      </p:sp>
      <p:sp>
        <p:nvSpPr>
          <p:cNvPr id="10" name="Prompts"/>
          <p:cNvSpPr txBox="1"/>
          <p:nvPr/>
        </p:nvSpPr>
        <p:spPr>
          <a:xfrm>
            <a:off x="514807" y="1910501"/>
            <a:ext cx="11201400" cy="4105287"/>
          </a:xfrm>
          <a:prstGeom prst="rect">
            <a:avLst/>
          </a:prstGeom>
          <a:noFill/>
          <a:ln/>
        </p:spPr>
        <p:txBody>
          <a:bodyPr wrap="square" lIns="0" tIns="0" rIns="0" bIns="0" rtlCol="0" anchor="t"/>
          <a:lstStyle/>
          <a:p>
            <a:pPr marL="285750" indent="-285750">
              <a:spcAft>
                <a:spcPts val="1000"/>
              </a:spcAft>
              <a:buClr>
                <a:schemeClr val="accent1"/>
              </a:buClr>
              <a:buSzPct val="100000"/>
              <a:buFont typeface="Arial" panose="020B0604020202020204" pitchFamily="34" charset="0"/>
              <a:buChar char="•"/>
            </a:pPr>
            <a:r>
              <a:rPr lang="en-US" dirty="0"/>
              <a:t>Primary  users are farmers, small and marginal banana farmers, managers and plantation supervisors. Here farmers face issues such as climatic change,  plant diseases and pest attack . Due to which there will be a huge loss. They may not have an access with experts and plant pathologists. It also provide weather-based alerts.</a:t>
            </a:r>
          </a:p>
          <a:p>
            <a:pPr marL="285750" indent="-285750">
              <a:spcAft>
                <a:spcPts val="1000"/>
              </a:spcAft>
              <a:buClr>
                <a:schemeClr val="accent1"/>
              </a:buClr>
              <a:buSzPct val="100000"/>
              <a:buFont typeface="Arial" panose="020B0604020202020204" pitchFamily="34" charset="0"/>
              <a:buChar char="•"/>
            </a:pPr>
            <a:r>
              <a:rPr lang="en-US" dirty="0"/>
              <a:t>Stakeholders are agricultural experts and officers, government agricultural department and agricultural support organization and banana traders and wholesalers.  Experts helps to give a scientific advice regarding cultivation, fertilizers and pest management.  Government departments gives us the information about the schemes and adoption of technology. </a:t>
            </a:r>
          </a:p>
          <a:p>
            <a:pPr marL="285750" indent="-285750">
              <a:spcAft>
                <a:spcPts val="1000"/>
              </a:spcAft>
              <a:buClr>
                <a:schemeClr val="accent1"/>
              </a:buClr>
              <a:buSzPct val="100000"/>
              <a:buFont typeface="Arial" panose="020B0604020202020204" pitchFamily="34" charset="0"/>
              <a:buChar char="•"/>
            </a:pPr>
            <a:r>
              <a:rPr lang="en-US" dirty="0"/>
              <a:t>Beneficiaries includes, farmers, consumers , traders and environment &amp; local communities.  Farmers will have profit because there will be a reduced crop losses due to disease and weather changes. There will be good irrigation, proper water usage are ensured . Good quality of banana will help to improve purchasing,  storage and distribution.  For consumers it will be more beneficial because if the production is high the price of the fruit will be reduced. If the recommendations are effective then there will be water management and fertilizers and pesticides usage will be reduced which helps the environmental impact to be reduced.</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CURRENT SITUATION &amp; CONTEXT</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NEXUS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Existing scenario, background and how things work today</a:t>
            </a:r>
            <a:endParaRPr lang="en-US" sz="1800" dirty="0"/>
          </a:p>
        </p:txBody>
      </p:sp>
      <p:sp>
        <p:nvSpPr>
          <p:cNvPr id="10" name="Prompts"/>
          <p:cNvSpPr txBox="1"/>
          <p:nvPr/>
        </p:nvSpPr>
        <p:spPr>
          <a:xfrm>
            <a:off x="876300" y="2148839"/>
            <a:ext cx="10424160" cy="3794761"/>
          </a:xfrm>
          <a:prstGeom prst="rect">
            <a:avLst/>
          </a:prstGeom>
          <a:noFill/>
          <a:ln/>
        </p:spPr>
        <p:txBody>
          <a:bodyPr wrap="square" lIns="0" tIns="0" rIns="0" bIns="0" rtlCol="0" anchor="t"/>
          <a:lstStyle/>
          <a:p>
            <a:pPr marL="285750" indent="-285750">
              <a:spcAft>
                <a:spcPts val="1000"/>
              </a:spcAft>
              <a:buClr>
                <a:schemeClr val="accent1"/>
              </a:buClr>
              <a:buSzPct val="100000"/>
              <a:buFont typeface="Arial" panose="020B0604020202020204" pitchFamily="34" charset="0"/>
              <a:buChar char="•"/>
            </a:pPr>
            <a:r>
              <a:rPr lang="en-IN" sz="2000" dirty="0"/>
              <a:t>Banana cultivation faces severe threats from devastating diseases, such as Yellow sigatoka ,  Panama Disease , Bacterial Wilt , Erwinia rhizome rot , Strangles disease, Infectious chlorosis etc.</a:t>
            </a:r>
          </a:p>
          <a:p>
            <a:pPr marL="285750" indent="-285750">
              <a:spcAft>
                <a:spcPts val="1000"/>
              </a:spcAft>
              <a:buClr>
                <a:schemeClr val="accent1"/>
              </a:buClr>
              <a:buSzPct val="100000"/>
              <a:buFont typeface="Arial" panose="020B0604020202020204" pitchFamily="34" charset="0"/>
              <a:buChar char="•"/>
            </a:pPr>
            <a:r>
              <a:rPr lang="en-IN" sz="2000" dirty="0"/>
              <a:t>Banana plants need a steady supply of water, but most farmers still irrigate by hand, using experience or a fixed schedule. Without real-time information on soil moisture, fields are often over-watered or under-watered. Over-watering wastes water and causes waterlogging and root problems, while under-watering stresses the plants and reduces growth and yield.</a:t>
            </a:r>
          </a:p>
          <a:p>
            <a:pPr marL="285750" indent="-285750">
              <a:spcAft>
                <a:spcPts val="1000"/>
              </a:spcAft>
              <a:buClr>
                <a:schemeClr val="accent1"/>
              </a:buClr>
              <a:buSzPct val="100000"/>
              <a:buFont typeface="Arial" panose="020B0604020202020204" pitchFamily="34" charset="0"/>
              <a:buChar char="•"/>
            </a:pPr>
            <a:r>
              <a:rPr lang="en-IN" sz="2000" dirty="0"/>
              <a:t>Major diseases (such as </a:t>
            </a:r>
            <a:r>
              <a:rPr lang="en-IN" sz="2000" dirty="0" err="1"/>
              <a:t>Moko</a:t>
            </a:r>
            <a:r>
              <a:rPr lang="en-IN" sz="2000" dirty="0"/>
              <a:t> Disease and Tip-Over Disease) cause severe yield reductions ranging from 70% to 93% in infected areas.</a:t>
            </a:r>
          </a:p>
          <a:p>
            <a:pPr marL="285750" indent="-285750">
              <a:spcAft>
                <a:spcPts val="1000"/>
              </a:spcAft>
              <a:buClr>
                <a:schemeClr val="accent1"/>
              </a:buClr>
              <a:buSzPct val="100000"/>
              <a:buFont typeface="Arial" panose="020B0604020202020204" pitchFamily="34" charset="0"/>
              <a:buChar char="•"/>
            </a:pPr>
            <a:r>
              <a:rPr lang="en-IN" sz="2000" dirty="0"/>
              <a:t>Today, banana farming runs on manual observation, late disease detection and fragmented support, leaving farmers exposed to disease, climate and market risks.</a:t>
            </a:r>
          </a:p>
          <a:p>
            <a:pPr marL="285750" indent="-285750">
              <a:spcAft>
                <a:spcPts val="1000"/>
              </a:spcAft>
              <a:buClr>
                <a:schemeClr val="accent1"/>
              </a:buClr>
              <a:buSzPct val="100000"/>
              <a:buFont typeface="Arial" panose="020B0604020202020204" pitchFamily="34" charset="0"/>
              <a:buChar char="•"/>
            </a:pPr>
            <a:endParaRPr lang="en-IN" dirty="0"/>
          </a:p>
          <a:p>
            <a:pPr>
              <a:spcAft>
                <a:spcPts val="1000"/>
              </a:spcAft>
              <a:buClr>
                <a:schemeClr val="accent1"/>
              </a:buClr>
              <a:buSzPct val="100000"/>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KEY CHALLENGES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411481"/>
            <a:ext cx="361188" cy="365760"/>
          </a:xfrm>
          <a:prstGeom prst="rect">
            <a:avLst/>
          </a:prstGeom>
        </p:spPr>
      </p:pic>
      <p:sp>
        <p:nvSpPr>
          <p:cNvPr id="6" name="Team Name"/>
          <p:cNvSpPr txBox="1"/>
          <p:nvPr/>
        </p:nvSpPr>
        <p:spPr>
          <a:xfrm>
            <a:off x="1380744" y="344424"/>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NEXUS</a:t>
            </a:r>
            <a:endParaRPr lang="en-US" sz="900" dirty="0"/>
          </a:p>
        </p:txBody>
      </p:sp>
      <p:sp>
        <p:nvSpPr>
          <p:cNvPr id="7" name="Lead Icon Hex"/>
          <p:cNvSpPr/>
          <p:nvPr/>
        </p:nvSpPr>
        <p:spPr>
          <a:xfrm>
            <a:off x="537210" y="1234441"/>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2366" y="1295248"/>
            <a:ext cx="274320" cy="274320"/>
          </a:xfrm>
          <a:prstGeom prst="rect">
            <a:avLst/>
          </a:prstGeom>
        </p:spPr>
      </p:pic>
      <p:sp>
        <p:nvSpPr>
          <p:cNvPr id="9" name="Lead Text"/>
          <p:cNvSpPr txBox="1"/>
          <p:nvPr/>
        </p:nvSpPr>
        <p:spPr>
          <a:xfrm>
            <a:off x="1097280" y="109728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Main difficulties, bottlenecks, root causes and consequences</a:t>
            </a:r>
            <a:endParaRPr lang="en-US" sz="1800" dirty="0"/>
          </a:p>
        </p:txBody>
      </p:sp>
      <p:sp>
        <p:nvSpPr>
          <p:cNvPr id="10" name="Prompts"/>
          <p:cNvSpPr txBox="1"/>
          <p:nvPr/>
        </p:nvSpPr>
        <p:spPr>
          <a:xfrm>
            <a:off x="1097280" y="1789190"/>
            <a:ext cx="10955956" cy="3976991"/>
          </a:xfrm>
          <a:prstGeom prst="rect">
            <a:avLst/>
          </a:prstGeom>
          <a:noFill/>
          <a:ln/>
        </p:spPr>
        <p:txBody>
          <a:bodyPr wrap="square" lIns="0" tIns="0" rIns="0" bIns="0" rtlCol="0" anchor="t"/>
          <a:lstStyle/>
          <a:p>
            <a:pPr marL="342900" indent="-342900">
              <a:spcAft>
                <a:spcPts val="1000"/>
              </a:spcAft>
              <a:buClr>
                <a:schemeClr val="accent1"/>
              </a:buClr>
              <a:buSzPct val="100000"/>
              <a:buFont typeface="Arial" panose="020B0604020202020204" pitchFamily="34" charset="0"/>
              <a:buChar char="•"/>
            </a:pPr>
            <a:r>
              <a:rPr lang="en-US" b="1" dirty="0"/>
              <a:t>Difficulties and Bottlenecks :                                                                                                                                                                               	</a:t>
            </a:r>
            <a:r>
              <a:rPr lang="en-US" dirty="0"/>
              <a:t>Improper irrigation and water wastage ,                                                                                                                                                                                    	Pest and disease detection                                                                                                                                                                                                                                                                                                                                                                          	Weather-related crop damage</a:t>
            </a:r>
          </a:p>
          <a:p>
            <a:pPr marL="342900" indent="-342900">
              <a:spcAft>
                <a:spcPts val="1000"/>
              </a:spcAft>
              <a:buClr>
                <a:schemeClr val="accent1"/>
              </a:buClr>
              <a:buSzPct val="100000"/>
              <a:buFont typeface="Arial" panose="020B0604020202020204" pitchFamily="34" charset="0"/>
              <a:buChar char="•"/>
            </a:pPr>
            <a:r>
              <a:rPr lang="en-US" b="1" dirty="0"/>
              <a:t>Deeper root causes:                                                                                                                                                                                                                                                                                                                                                                                                                                                                                                                                                                            </a:t>
            </a:r>
            <a:r>
              <a:rPr lang="en-US" dirty="0"/>
              <a:t>	Limited predictive intelligence                                                                                                                                                                                                                                                                               	High cost of smart farming technology                                                                                                                                                                                                                                                                                                                                                                                                                                                                                                               	Limited access to timely expert advice                                                                                                                                                                                                                                                           	Lack of farm-specific recommendations        </a:t>
            </a:r>
          </a:p>
          <a:p>
            <a:pPr marL="342900" indent="-342900">
              <a:spcAft>
                <a:spcPts val="1000"/>
              </a:spcAft>
              <a:buClr>
                <a:schemeClr val="accent1"/>
              </a:buClr>
              <a:buSzPct val="100000"/>
              <a:buFont typeface="Arial" panose="020B0604020202020204" pitchFamily="34" charset="0"/>
              <a:buChar char="•"/>
            </a:pPr>
            <a:r>
              <a:rPr lang="en-US" b="1" dirty="0"/>
              <a:t>Consequences of leaving them unsolved                                                                                                                                                                                                                                                    </a:t>
            </a:r>
            <a:r>
              <a:rPr lang="en-US" dirty="0"/>
              <a:t>	Improper irrigation                                                                                                                                                                                                                                                                                                    	Delayed pest and disease detection</a:t>
            </a:r>
          </a:p>
          <a:p>
            <a:pPr>
              <a:spcAft>
                <a:spcPts val="1000"/>
              </a:spcAft>
              <a:buClr>
                <a:schemeClr val="accent1"/>
              </a:buClr>
              <a:buSzPct val="100000"/>
            </a:pPr>
            <a:endParaRPr lang="en-US" dirty="0"/>
          </a:p>
          <a:p>
            <a:pPr>
              <a:spcAft>
                <a:spcPts val="1000"/>
              </a:spcAft>
              <a:buClr>
                <a:schemeClr val="accent1"/>
              </a:buClr>
              <a:buSzPct val="100000"/>
            </a:pPr>
            <a:r>
              <a:rPr lang="en-US" dirty="0"/>
              <a:t>	                                                                                                                                                                                                                                      	                                                                                                                                                                           </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52389"/>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EXISTING SOLUTIONS / APPROACHES</a:t>
            </a:r>
            <a:endParaRPr lang="en-US" sz="2400" dirty="0"/>
          </a:p>
        </p:txBody>
      </p:sp>
      <p:sp>
        <p:nvSpPr>
          <p:cNvPr id="3" name="Team Badge"/>
          <p:cNvSpPr/>
          <p:nvPr/>
        </p:nvSpPr>
        <p:spPr>
          <a:xfrm>
            <a:off x="459205" y="3938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552851" y="84771"/>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674370" y="137160"/>
            <a:ext cx="365760" cy="365760"/>
          </a:xfrm>
          <a:prstGeom prst="rect">
            <a:avLst/>
          </a:prstGeom>
        </p:spPr>
      </p:pic>
      <p:sp>
        <p:nvSpPr>
          <p:cNvPr id="6" name="Team Name"/>
          <p:cNvSpPr txBox="1"/>
          <p:nvPr/>
        </p:nvSpPr>
        <p:spPr>
          <a:xfrm>
            <a:off x="1305306" y="14234"/>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NEXUS</a:t>
            </a:r>
            <a:endParaRPr lang="en-US" sz="900" dirty="0"/>
          </a:p>
        </p:txBody>
      </p:sp>
      <p:sp>
        <p:nvSpPr>
          <p:cNvPr id="7" name="Lead Icon Hex"/>
          <p:cNvSpPr/>
          <p:nvPr/>
        </p:nvSpPr>
        <p:spPr>
          <a:xfrm>
            <a:off x="583532" y="991619"/>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62940" y="1036954"/>
            <a:ext cx="274320" cy="274320"/>
          </a:xfrm>
          <a:prstGeom prst="rect">
            <a:avLst/>
          </a:prstGeom>
        </p:spPr>
      </p:pic>
      <p:sp>
        <p:nvSpPr>
          <p:cNvPr id="9" name="Lead Text"/>
          <p:cNvSpPr txBox="1"/>
          <p:nvPr/>
        </p:nvSpPr>
        <p:spPr>
          <a:xfrm>
            <a:off x="1143000" y="944773"/>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already being done, and where it falls short</a:t>
            </a:r>
            <a:endParaRPr lang="en-US" sz="1800" dirty="0"/>
          </a:p>
        </p:txBody>
      </p:sp>
      <p:sp>
        <p:nvSpPr>
          <p:cNvPr id="10" name="Prompts"/>
          <p:cNvSpPr txBox="1"/>
          <p:nvPr/>
        </p:nvSpPr>
        <p:spPr>
          <a:xfrm>
            <a:off x="374904" y="1387554"/>
            <a:ext cx="11112703" cy="3674444"/>
          </a:xfrm>
          <a:prstGeom prst="rect">
            <a:avLst/>
          </a:prstGeom>
          <a:noFill/>
          <a:ln/>
        </p:spPr>
        <p:txBody>
          <a:bodyPr wrap="square" lIns="0" tIns="0" rIns="0" bIns="0" rtlCol="0" anchor="t"/>
          <a:lstStyle/>
          <a:p>
            <a:r>
              <a:rPr lang="en-US" b="1" dirty="0"/>
              <a:t>1. Sensor-Based Irrigation</a:t>
            </a:r>
          </a:p>
          <a:p>
            <a:r>
              <a:rPr lang="en-US" dirty="0"/>
              <a:t>Soil moisture sensors measure the moisture level in the soil and activate irrigation when the moisture falls below a predefined threshold.</a:t>
            </a:r>
          </a:p>
          <a:p>
            <a:r>
              <a:rPr lang="en-US" b="1" dirty="0"/>
              <a:t>2. IoT-Based Monitoring Systems</a:t>
            </a:r>
          </a:p>
          <a:p>
            <a:r>
              <a:rPr lang="en-US" dirty="0"/>
              <a:t>IoT devices collect soil moisture, temperature and humidity readings and send the information to a computer or mobile dashboard for monitoring.</a:t>
            </a:r>
          </a:p>
          <a:p>
            <a:r>
              <a:rPr lang="en-US" b="1" dirty="0"/>
              <a:t>3. Image-Based Banana Disease Detection</a:t>
            </a:r>
          </a:p>
          <a:p>
            <a:r>
              <a:rPr lang="en-US" dirty="0"/>
              <a:t>Deep-learning models </a:t>
            </a:r>
            <a:r>
              <a:rPr lang="en-US" dirty="0" err="1"/>
              <a:t>analyse</a:t>
            </a:r>
            <a:r>
              <a:rPr lang="en-US" dirty="0"/>
              <a:t> banana leaf images to identify possible diseases and help farmers detect problems earlier</a:t>
            </a:r>
          </a:p>
          <a:p>
            <a:r>
              <a:rPr lang="en-US" b="1" dirty="0"/>
              <a:t>4. Weather-Based Irrigation</a:t>
            </a:r>
          </a:p>
          <a:p>
            <a:r>
              <a:rPr lang="en-US" dirty="0"/>
              <a:t>Weather forecasts and rainfall data are used to plan irrigation and avoid unnecessary watering when rain is expected.</a:t>
            </a:r>
          </a:p>
          <a:p>
            <a:r>
              <a:rPr lang="en-US" b="1" dirty="0"/>
              <a:t>5. Machine Learning-Based Irrigation</a:t>
            </a:r>
          </a:p>
          <a:p>
            <a:r>
              <a:rPr lang="en-US" dirty="0"/>
              <a:t>Machine Learning models </a:t>
            </a:r>
            <a:r>
              <a:rPr lang="en-US" dirty="0" err="1"/>
              <a:t>analyse</a:t>
            </a:r>
            <a:r>
              <a:rPr lang="en-US" dirty="0"/>
              <a:t> soil conditions, weather data and previous irrigation records to predict when water is needed.</a:t>
            </a:r>
          </a:p>
          <a:p>
            <a:r>
              <a:rPr lang="en-US" dirty="0"/>
              <a:t>Our project aims to combine IoT sensors, Machine Learning and automatic irrigation control in one system. It will monitor soil conditions, predict irrigation requirements and control the water pump based on the model's output and safety conditions.</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PROBLEM INSIGHTS &amp; OPPORTUNITY AREAS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NEXUS</a:t>
            </a:r>
            <a:endParaRPr lang="en-US" sz="900" dirty="0"/>
          </a:p>
        </p:txBody>
      </p:sp>
      <p:sp>
        <p:nvSpPr>
          <p:cNvPr id="7" name="Lead Icon Hex"/>
          <p:cNvSpPr/>
          <p:nvPr/>
        </p:nvSpPr>
        <p:spPr>
          <a:xfrm>
            <a:off x="548640" y="1219352"/>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294790"/>
            <a:ext cx="274320" cy="274320"/>
          </a:xfrm>
          <a:prstGeom prst="rect">
            <a:avLst/>
          </a:prstGeom>
        </p:spPr>
      </p:pic>
      <p:sp>
        <p:nvSpPr>
          <p:cNvPr id="9" name="Lead Text"/>
          <p:cNvSpPr txBox="1"/>
          <p:nvPr/>
        </p:nvSpPr>
        <p:spPr>
          <a:xfrm>
            <a:off x="1170432" y="1132957"/>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Resources required to solve the problem</a:t>
            </a:r>
            <a:endParaRPr lang="en-US" sz="1800" dirty="0"/>
          </a:p>
        </p:txBody>
      </p:sp>
      <p:sp>
        <p:nvSpPr>
          <p:cNvPr id="10" name="Prompts"/>
          <p:cNvSpPr txBox="1"/>
          <p:nvPr/>
        </p:nvSpPr>
        <p:spPr>
          <a:xfrm>
            <a:off x="883920" y="156911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b="1" dirty="0"/>
              <a:t>1. Hardware Requirements</a:t>
            </a:r>
          </a:p>
          <a:p>
            <a:pPr lvl="1">
              <a:lnSpc>
                <a:spcPts val="1800"/>
              </a:lnSpc>
              <a:spcAft>
                <a:spcPts val="600"/>
              </a:spcAft>
              <a:buClr>
                <a:schemeClr val="accent1"/>
              </a:buClr>
              <a:buSzPct val="100000"/>
            </a:pPr>
            <a:r>
              <a:rPr lang="en-US" dirty="0"/>
              <a:t>ESP32 Microcontroller: To collect sensor readings and send the data to the system.</a:t>
            </a:r>
          </a:p>
          <a:p>
            <a:pPr lvl="1">
              <a:lnSpc>
                <a:spcPts val="1800"/>
              </a:lnSpc>
              <a:spcAft>
                <a:spcPts val="600"/>
              </a:spcAft>
              <a:buClr>
                <a:schemeClr val="accent1"/>
              </a:buClr>
              <a:buSzPct val="100000"/>
            </a:pPr>
            <a:r>
              <a:rPr lang="en-US" dirty="0"/>
              <a:t>Soil Moisture Sensor: To measure the moisture level in the soil.</a:t>
            </a:r>
          </a:p>
          <a:p>
            <a:pPr lvl="1">
              <a:lnSpc>
                <a:spcPts val="1800"/>
              </a:lnSpc>
              <a:spcAft>
                <a:spcPts val="600"/>
              </a:spcAft>
              <a:buClr>
                <a:schemeClr val="accent1"/>
              </a:buClr>
              <a:buSzPct val="100000"/>
            </a:pPr>
            <a:r>
              <a:rPr lang="en-US" dirty="0"/>
              <a:t>Temperature and Humidity Sensor: To monitor the surrounding environmental conditions.</a:t>
            </a:r>
          </a:p>
          <a:p>
            <a:pPr lvl="1">
              <a:lnSpc>
                <a:spcPts val="1800"/>
              </a:lnSpc>
              <a:spcAft>
                <a:spcPts val="600"/>
              </a:spcAft>
              <a:buClr>
                <a:schemeClr val="accent1"/>
              </a:buClr>
              <a:buSzPct val="100000"/>
            </a:pPr>
            <a:r>
              <a:rPr lang="en-US" dirty="0"/>
              <a:t>Internet Connection: To transfer sensor data to the software system.</a:t>
            </a:r>
          </a:p>
          <a:p>
            <a:pPr marL="279400" indent="-279400">
              <a:spcAft>
                <a:spcPts val="1000"/>
              </a:spcAft>
              <a:buClr>
                <a:schemeClr val="accent1"/>
              </a:buClr>
              <a:buSzPct val="100000"/>
              <a:buChar char="•"/>
            </a:pPr>
            <a:r>
              <a:rPr lang="en-US" b="1" dirty="0"/>
              <a:t>2 .Software Requirements</a:t>
            </a:r>
          </a:p>
          <a:p>
            <a:pPr lvl="1">
              <a:lnSpc>
                <a:spcPts val="1800"/>
              </a:lnSpc>
              <a:spcAft>
                <a:spcPts val="600"/>
              </a:spcAft>
              <a:buClr>
                <a:schemeClr val="accent1"/>
              </a:buClr>
              <a:buSzPct val="100000"/>
            </a:pPr>
            <a:r>
              <a:rPr lang="en-US" dirty="0"/>
              <a:t>Dataset: Soil moisture, temperature, humidity, rainfall and irrigation records.</a:t>
            </a:r>
          </a:p>
          <a:p>
            <a:pPr lvl="1">
              <a:lnSpc>
                <a:spcPts val="1800"/>
              </a:lnSpc>
              <a:spcAft>
                <a:spcPts val="600"/>
              </a:spcAft>
              <a:buClr>
                <a:schemeClr val="accent1"/>
              </a:buClr>
              <a:buSzPct val="100000"/>
            </a:pPr>
            <a:r>
              <a:rPr lang="en-US" dirty="0"/>
              <a:t>Data Preprocessing: To clean the data and prepare it for training.</a:t>
            </a:r>
          </a:p>
          <a:p>
            <a:pPr lvl="1">
              <a:lnSpc>
                <a:spcPts val="1800"/>
              </a:lnSpc>
              <a:spcAft>
                <a:spcPts val="600"/>
              </a:spcAft>
              <a:buClr>
                <a:schemeClr val="accent1"/>
              </a:buClr>
              <a:buSzPct val="100000"/>
            </a:pPr>
            <a:r>
              <a:rPr lang="en-US" dirty="0"/>
              <a:t>Model Training: To train the model to predict whether irrigation is required.</a:t>
            </a:r>
          </a:p>
          <a:p>
            <a:pPr lvl="1">
              <a:lnSpc>
                <a:spcPts val="1800"/>
              </a:lnSpc>
              <a:spcAft>
                <a:spcPts val="600"/>
              </a:spcAft>
              <a:buClr>
                <a:schemeClr val="accent1"/>
              </a:buClr>
              <a:buSzPct val="100000"/>
            </a:pPr>
            <a:r>
              <a:rPr lang="en-US" dirty="0"/>
              <a:t>Model Testing: To check how accurately the model predicts irrigation needs.</a:t>
            </a:r>
          </a:p>
          <a:p>
            <a:pPr lvl="1">
              <a:lnSpc>
                <a:spcPts val="1800"/>
              </a:lnSpc>
              <a:spcAft>
                <a:spcPts val="600"/>
              </a:spcAft>
              <a:buClr>
                <a:schemeClr val="accent1"/>
              </a:buClr>
              <a:buSzPct val="100000"/>
            </a:pPr>
            <a:r>
              <a:rPr lang="en-US" dirty="0"/>
              <a:t>Prediction Output: To recommend when watering should start or stop.</a:t>
            </a:r>
          </a:p>
          <a:p>
            <a:pPr lvl="1">
              <a:lnSpc>
                <a:spcPts val="1800"/>
              </a:lnSpc>
              <a:spcAft>
                <a:spcPts val="600"/>
              </a:spcAft>
              <a:buClr>
                <a:schemeClr val="accent1"/>
              </a:buClr>
              <a:buSzPct val="100000"/>
            </a:pPr>
            <a:r>
              <a:rPr lang="en-US" dirty="0">
                <a:solidFill>
                  <a:schemeClr val="tx1"/>
                </a:solidFill>
              </a:rPr>
              <a:t>Other resources (Including Human Resources)</a:t>
            </a:r>
          </a:p>
          <a:p>
            <a:pPr lvl="1">
              <a:lnSpc>
                <a:spcPts val="1800"/>
              </a:lnSpc>
              <a:spcAft>
                <a:spcPts val="600"/>
              </a:spcAft>
              <a:buClr>
                <a:schemeClr val="accent1"/>
              </a:buClr>
              <a:buSzPct val="100000"/>
            </a:pPr>
            <a:endParaRPr lang="en-US"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INITIAL DIRECTION &amp; EXPECTED OUTCOME</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NEXUS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43000" y="140909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Your Expected Outcome?</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8</a:t>
            </a:fld>
            <a:endParaRPr lang="en-US"/>
          </a:p>
        </p:txBody>
      </p:sp>
      <p:sp>
        <p:nvSpPr>
          <p:cNvPr id="11" name="TextBox 10">
            <a:extLst>
              <a:ext uri="{FF2B5EF4-FFF2-40B4-BE49-F238E27FC236}">
                <a16:creationId xmlns:a16="http://schemas.microsoft.com/office/drawing/2014/main" id="{1985F275-E7F5-D25B-BF78-9BF58FB402D0}"/>
              </a:ext>
            </a:extLst>
          </p:cNvPr>
          <p:cNvSpPr txBox="1"/>
          <p:nvPr/>
        </p:nvSpPr>
        <p:spPr>
          <a:xfrm>
            <a:off x="1101852" y="2237871"/>
            <a:ext cx="9385674" cy="2862322"/>
          </a:xfrm>
          <a:prstGeom prst="rect">
            <a:avLst/>
          </a:prstGeom>
          <a:noFill/>
        </p:spPr>
        <p:txBody>
          <a:bodyPr wrap="square" rtlCol="0">
            <a:spAutoFit/>
          </a:bodyPr>
          <a:lstStyle/>
          <a:p>
            <a:pPr marL="285750" indent="-285750">
              <a:buFont typeface="Arial" panose="020B0604020202020204" pitchFamily="34" charset="0"/>
              <a:buChar char="•"/>
            </a:pPr>
            <a:r>
              <a:rPr lang="en-IN" dirty="0"/>
              <a:t>Our expected outcome is a working prototype of an affordable Banana Smart Farming System. It will monitor soil moisture and weather, recommend irrigation, detect leaf diseases with Deep Learning , and send simple alerts. This will reduce water waste, enable earlier disease response, lower avoidable costs, and help farmers protect yield and quality</a:t>
            </a:r>
          </a:p>
          <a:p>
            <a:endParaRPr lang="en-IN" dirty="0"/>
          </a:p>
          <a:p>
            <a:endParaRPr lang="en-IN" dirty="0"/>
          </a:p>
          <a:p>
            <a:pPr marL="285750" indent="-285750">
              <a:buFont typeface="Arial" panose="020B0604020202020204" pitchFamily="34" charset="0"/>
              <a:buChar char="•"/>
            </a:pPr>
            <a:r>
              <a:rPr lang="en-IN" dirty="0"/>
              <a:t>Success will be measured through the prototype's performance: lower water use compared with fixed-schedule irrigation, soil moisture kept within the target range, and accurate irrigation and disease predictions. Together, these results will show better farm decisions, more efficient use of water and inputs, and a strong foundation for real-field deployment.</a:t>
            </a:r>
          </a:p>
        </p:txBody>
      </p:sp>
    </p:spTree>
  </p:cSld>
  <p:clrMapOvr>
    <a:masterClrMapping/>
  </p:clrMapOvr>
</p:sld>
</file>

<file path=ppt/theme/theme1.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222</TotalTime>
  <Words>1086</Words>
  <Application>Microsoft Office PowerPoint</Application>
  <PresentationFormat>Widescreen</PresentationFormat>
  <Paragraphs>95</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Cambria</vt:lpstr>
      <vt:lpstr>Wingdings</vt:lpstr>
      <vt:lpstr>Genesis Ideathon</vt:lpstr>
      <vt:lpstr>PowerPoint Presentation</vt:lpstr>
      <vt:lpstr>DOMAIN PROBLEM IN OUR WORDS</vt:lpstr>
      <vt:lpstr>WHO IS AFFECTED?</vt:lpstr>
      <vt:lpstr>CURRENT SITUATION &amp; CONTEXT</vt:lpstr>
      <vt:lpstr>KEY CHALLENGES</vt:lpstr>
      <vt:lpstr>EXISTING SOLUTIONS / APPROACHES</vt:lpstr>
      <vt:lpstr>PROBLEM INSIGHTS &amp; OPPORTUNITY AREAS</vt:lpstr>
      <vt:lpstr>INITIAL DIRECTION &amp; EXPECTED OUTCOME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Ideathon – Pre-Ideathon Template</dc:title>
  <dc:subject>PptxGenJS Presentation</dc:subject>
  <dc:creator>Genesis Ideathon</dc:creator>
  <cp:lastModifiedBy>akshaya N</cp:lastModifiedBy>
  <cp:revision>2</cp:revision>
  <dcterms:created xsi:type="dcterms:W3CDTF">2026-10-07T15:27:40Z</dcterms:created>
  <dcterms:modified xsi:type="dcterms:W3CDTF">2026-10-09T16:49:52Z</dcterms:modified>
</cp:coreProperties>
</file>